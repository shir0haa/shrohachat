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82" r:id="rId7"/>
    <p:sldId id="28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2:53-d2v6pndnfo2stf9dk5og.jpeg"/>
          <p:cNvPicPr>
            <a:picLocks noChangeAspect="1"/>
          </p:cNvPicPr>
          <p:nvPr/>
        </p:nvPicPr>
        <p:blipFill>
          <a:blip r:embed="rId1"/>
          <a:srcRect l="53" t="63" r="42" b="206"/>
          <a:stretch>
            <a:fillRect/>
          </a:stretch>
        </p:blipFill>
        <p:spPr>
          <a:xfrm>
            <a:off x="257810" y="978535"/>
            <a:ext cx="11252835" cy="18783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150600" y="-416560"/>
            <a:ext cx="1390650" cy="1390650"/>
          </a:xfrm>
          <a:prstGeom prst="ellipse">
            <a:avLst/>
          </a:prstGeom>
          <a:solidFill>
            <a:srgbClr val="3365D6"/>
          </a:solidFill>
        </p:spPr>
      </p:sp>
      <p:sp>
        <p:nvSpPr>
          <p:cNvPr id="4" name="Shape 1"/>
          <p:cNvSpPr/>
          <p:nvPr/>
        </p:nvSpPr>
        <p:spPr>
          <a:xfrm>
            <a:off x="9736455" y="4521835"/>
            <a:ext cx="3345815" cy="3345815"/>
          </a:xfrm>
          <a:prstGeom prst="ellipse">
            <a:avLst/>
          </a:prstGeom>
          <a:solidFill>
            <a:srgbClr val="3365D6"/>
          </a:solidFill>
        </p:spPr>
      </p:sp>
      <p:sp>
        <p:nvSpPr>
          <p:cNvPr id="5" name="Text 2"/>
          <p:cNvSpPr/>
          <p:nvPr/>
        </p:nvSpPr>
        <p:spPr>
          <a:xfrm>
            <a:off x="214630" y="3065780"/>
            <a:ext cx="9513570" cy="20326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altLang="zh-CN" sz="6000" b="1" dirty="0">
              <a:solidFill>
                <a:srgbClr val="3365D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CN" sz="6000" b="1" dirty="0">
                <a:solidFill>
                  <a:srgbClr val="3365D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ShrohaChat</a:t>
            </a:r>
            <a:r>
              <a:rPr lang="zh-CN" altLang="en-US" sz="6000" b="1" dirty="0">
                <a:solidFill>
                  <a:srgbClr val="3365D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即时聊天软件</a:t>
            </a:r>
            <a:endParaRPr lang="zh-CN" altLang="en-US" sz="6000" b="1" dirty="0">
              <a:solidFill>
                <a:srgbClr val="3365D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77225" y="374650"/>
            <a:ext cx="3627755" cy="755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365D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2026/01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7810" y="2896235"/>
            <a:ext cx="11252835" cy="0"/>
          </a:xfrm>
          <a:prstGeom prst="line">
            <a:avLst/>
          </a:prstGeom>
          <a:noFill/>
          <a:ln w="28575">
            <a:solidFill>
              <a:srgbClr val="1E386B"/>
            </a:solidFill>
            <a:prstDash val="solid"/>
            <a:headEnd type="none"/>
            <a:tailEnd type="none"/>
          </a:ln>
        </p:spPr>
      </p:sp>
      <p:pic>
        <p:nvPicPr>
          <p:cNvPr id="11" name="Image 1" descr="https://kimi-img.moonshot.cn/pub/slides/slides_tmpl/image/25-09-08-13:42:53-d2v6pndnfo2stf9dk5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455" y="2439035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2:54-d2v6pnlnfo2stf9dk630.png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757920" y="-466725"/>
            <a:ext cx="1699260" cy="169926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2:54-d2v6pnlnfo2stf9dk62g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2160000">
            <a:off x="8716645" y="3039110"/>
            <a:ext cx="3221355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3:42:54-d2v6pnlnfo2stf9dk62g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2160000">
            <a:off x="-1583055" y="-1156970"/>
            <a:ext cx="3221355" cy="68580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8-13:42:53-d2v6pndnfo2stf9dk5q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615" y="459105"/>
            <a:ext cx="628015" cy="1828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381000" y="381000"/>
            <a:ext cx="1181100" cy="304800"/>
          </a:xfrm>
          <a:custGeom>
            <a:avLst/>
            <a:gdLst/>
            <a:ahLst/>
            <a:cxnLst/>
            <a:rect l="l" t="t" r="r" b="b"/>
            <a:pathLst>
              <a:path w="1181100" h="304800">
                <a:moveTo>
                  <a:pt x="152400" y="0"/>
                </a:moveTo>
                <a:lnTo>
                  <a:pt x="1028700" y="0"/>
                </a:lnTo>
                <a:cubicBezTo>
                  <a:pt x="1112812" y="0"/>
                  <a:pt x="1181100" y="68288"/>
                  <a:pt x="1181100" y="152400"/>
                </a:cubicBezTo>
                <a:lnTo>
                  <a:pt x="1181100" y="152400"/>
                </a:lnTo>
                <a:cubicBezTo>
                  <a:pt x="1181100" y="236512"/>
                  <a:pt x="1112812" y="304800"/>
                  <a:pt x="10287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CCFF">
              <a:alpha val="10196"/>
            </a:srgbClr>
          </a:solidFill>
        </p:spPr>
      </p:sp>
      <p:sp>
        <p:nvSpPr>
          <p:cNvPr id="8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600" b="1" dirty="0">
                <a:solidFill>
                  <a:srgbClr val="2844CB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一、</a:t>
            </a:r>
            <a:endParaRPr lang="zh-CN" altLang="en-US" sz="3600" b="1" dirty="0">
              <a:solidFill>
                <a:srgbClr val="2844CB"/>
              </a:solidFill>
              <a:latin typeface="阿里妈妈数黑体" pitchFamily="34" charset="0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90550" y="33718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457950" y="179070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6457950" y="33718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8650387" y="495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8726587" y="54864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总页数</a:t>
            </a:r>
            <a:endParaRPr lang="en-US" sz="1600" dirty="0"/>
          </a:p>
        </p:txBody>
      </p:sp>
      <p:pic>
        <p:nvPicPr>
          <p:cNvPr id="42" name="图片 41"/>
          <p:cNvPicPr/>
          <p:nvPr/>
        </p:nvPicPr>
        <p:blipFill>
          <a:blip r:embed="rId4"/>
          <a:stretch>
            <a:fillRect/>
          </a:stretch>
        </p:blipFill>
        <p:spPr>
          <a:xfrm>
            <a:off x="380683" y="1415415"/>
            <a:ext cx="7915275" cy="327660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578485" y="5019675"/>
            <a:ext cx="7717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在不启用服务端时，发送消息会提示发送失败（聊天记录下显示</a:t>
            </a:r>
            <a:r>
              <a:rPr lang="zh-CN" altLang="en-US"/>
              <a:t>红色！）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2:54-d2v6pnlnfo2stf9dk630.png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757920" y="-466725"/>
            <a:ext cx="1699260" cy="169926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2:54-d2v6pnlnfo2stf9dk62g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2160000">
            <a:off x="8716645" y="3039110"/>
            <a:ext cx="3221355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3:42:54-d2v6pnlnfo2stf9dk62g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2160000">
            <a:off x="-1583055" y="-1156970"/>
            <a:ext cx="3221355" cy="68580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8-13:42:53-d2v6pndnfo2stf9dk5q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615" y="459105"/>
            <a:ext cx="628015" cy="1828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381000" y="381000"/>
            <a:ext cx="1181100" cy="304800"/>
          </a:xfrm>
          <a:custGeom>
            <a:avLst/>
            <a:gdLst/>
            <a:ahLst/>
            <a:cxnLst/>
            <a:rect l="l" t="t" r="r" b="b"/>
            <a:pathLst>
              <a:path w="1181100" h="304800">
                <a:moveTo>
                  <a:pt x="152400" y="0"/>
                </a:moveTo>
                <a:lnTo>
                  <a:pt x="1028700" y="0"/>
                </a:lnTo>
                <a:cubicBezTo>
                  <a:pt x="1112812" y="0"/>
                  <a:pt x="1181100" y="68288"/>
                  <a:pt x="1181100" y="152400"/>
                </a:cubicBezTo>
                <a:lnTo>
                  <a:pt x="1181100" y="152400"/>
                </a:lnTo>
                <a:cubicBezTo>
                  <a:pt x="1181100" y="236512"/>
                  <a:pt x="1112812" y="304800"/>
                  <a:pt x="10287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CCFF">
              <a:alpha val="10196"/>
            </a:srgbClr>
          </a:solidFill>
        </p:spPr>
      </p:sp>
      <p:sp>
        <p:nvSpPr>
          <p:cNvPr id="8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600" b="1" dirty="0">
                <a:solidFill>
                  <a:srgbClr val="2844CB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二、</a:t>
            </a:r>
            <a:endParaRPr lang="zh-CN" altLang="en-US" sz="3600" b="1" dirty="0">
              <a:solidFill>
                <a:srgbClr val="2844CB"/>
              </a:solidFill>
              <a:latin typeface="阿里妈妈数黑体" pitchFamily="34" charset="0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90550" y="33718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457950" y="179070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6457950" y="33718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8650387" y="495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8726587" y="54864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总页数</a:t>
            </a:r>
            <a:endParaRPr lang="en-US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7971155" y="3125470"/>
            <a:ext cx="3272790" cy="2119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在终端中启用服务器，以开展后续聊条对话</a:t>
            </a:r>
            <a:r>
              <a:rPr lang="zh-CN" altLang="en-US"/>
              <a:t>服务</a:t>
            </a:r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1901825" y="381000"/>
            <a:ext cx="8792210" cy="13716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5"/>
          <a:stretch>
            <a:fillRect/>
          </a:stretch>
        </p:blipFill>
        <p:spPr>
          <a:xfrm>
            <a:off x="160020" y="2138680"/>
            <a:ext cx="7459345" cy="35871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2:54-d2v6pnlnfo2stf9dk630.png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757920" y="-466725"/>
            <a:ext cx="1699260" cy="169926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2:54-d2v6pnlnfo2stf9dk62g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2160000">
            <a:off x="8813800" y="3039110"/>
            <a:ext cx="3221355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3:42:54-d2v6pnlnfo2stf9dk62g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2160000">
            <a:off x="-1583055" y="-1156970"/>
            <a:ext cx="3221355" cy="68580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8-13:42:53-d2v6pndnfo2stf9dk5q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615" y="459105"/>
            <a:ext cx="628015" cy="1828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381000" y="381000"/>
            <a:ext cx="1181100" cy="304800"/>
          </a:xfrm>
          <a:custGeom>
            <a:avLst/>
            <a:gdLst/>
            <a:ahLst/>
            <a:cxnLst/>
            <a:rect l="l" t="t" r="r" b="b"/>
            <a:pathLst>
              <a:path w="1181100" h="304800">
                <a:moveTo>
                  <a:pt x="152400" y="0"/>
                </a:moveTo>
                <a:lnTo>
                  <a:pt x="1028700" y="0"/>
                </a:lnTo>
                <a:cubicBezTo>
                  <a:pt x="1112812" y="0"/>
                  <a:pt x="1181100" y="68288"/>
                  <a:pt x="1181100" y="152400"/>
                </a:cubicBezTo>
                <a:lnTo>
                  <a:pt x="1181100" y="152400"/>
                </a:lnTo>
                <a:cubicBezTo>
                  <a:pt x="1181100" y="236512"/>
                  <a:pt x="1112812" y="304800"/>
                  <a:pt x="10287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CCFF">
              <a:alpha val="10196"/>
            </a:srgbClr>
          </a:solidFill>
        </p:spPr>
      </p:sp>
      <p:sp>
        <p:nvSpPr>
          <p:cNvPr id="8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600" b="1" dirty="0">
                <a:solidFill>
                  <a:srgbClr val="2844CB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三、</a:t>
            </a:r>
            <a:endParaRPr lang="zh-CN" altLang="en-US" sz="3600" b="1" dirty="0">
              <a:solidFill>
                <a:srgbClr val="2844CB"/>
              </a:solidFill>
              <a:latin typeface="阿里妈妈数黑体" pitchFamily="34" charset="0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90550" y="33718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457950" y="179070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6457950" y="33718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8650387" y="495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8726587" y="54864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总页数</a:t>
            </a:r>
            <a:endParaRPr lang="en-US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10168255" y="685800"/>
            <a:ext cx="1813560" cy="990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在终端中可查看通话建立</a:t>
            </a:r>
            <a:r>
              <a:rPr lang="zh-CN" altLang="en-US"/>
              <a:t>信息</a:t>
            </a:r>
            <a:endParaRPr lang="zh-CN" altLang="en-US"/>
          </a:p>
        </p:txBody>
      </p:sp>
      <p:pic>
        <p:nvPicPr>
          <p:cNvPr id="10" name="图片 9"/>
          <p:cNvPicPr/>
          <p:nvPr/>
        </p:nvPicPr>
        <p:blipFill>
          <a:blip r:embed="rId4"/>
          <a:stretch>
            <a:fillRect/>
          </a:stretch>
        </p:blipFill>
        <p:spPr>
          <a:xfrm>
            <a:off x="1562100" y="384175"/>
            <a:ext cx="8383905" cy="140652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5"/>
          <a:stretch>
            <a:fillRect/>
          </a:stretch>
        </p:blipFill>
        <p:spPr>
          <a:xfrm>
            <a:off x="3346450" y="2324100"/>
            <a:ext cx="8679180" cy="386270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78130" y="3377565"/>
            <a:ext cx="2313305" cy="2032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成功实现两用户之间的聊天服务，且支持表情的</a:t>
            </a:r>
            <a:r>
              <a:rPr lang="zh-CN" altLang="en-US"/>
              <a:t>发送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>On-screen Show (16:9)</PresentationFormat>
  <Paragraphs>48</Paragraphs>
  <Slides>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宋体</vt:lpstr>
      <vt:lpstr>Wingdings</vt:lpstr>
      <vt:lpstr>MiSans</vt:lpstr>
      <vt:lpstr>MiSans Semibold</vt:lpstr>
      <vt:lpstr>MiSans</vt:lpstr>
      <vt:lpstr>MiSans</vt:lpstr>
      <vt:lpstr>阿里妈妈数黑体</vt:lpstr>
      <vt:lpstr>阿里妈妈数黑体</vt:lpstr>
      <vt:lpstr>阿里妈妈数黑体</vt:lpstr>
      <vt:lpstr>Calibri</vt:lpstr>
      <vt:lpstr>微软雅黑</vt:lpstr>
      <vt:lpstr>Arial Unicode MS</vt:lpstr>
      <vt:lpstr>等线</vt:lpstr>
      <vt:lpstr>黑体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软件项目管理课程报告</dc:title>
  <dc:creator/>
  <dc:subject>软件项目管理课程报告</dc:subject>
  <cp:lastModifiedBy>WPS_1695817103</cp:lastModifiedBy>
  <cp:revision>2</cp:revision>
  <dcterms:created xsi:type="dcterms:W3CDTF">2025-12-24T10:15:00Z</dcterms:created>
  <dcterms:modified xsi:type="dcterms:W3CDTF">2026-01-16T09:34:33Z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软件项目管理课程报告","ContentProducer":"001191110108MACG2KBH8F10000","ProduceID":"19b4f9bb-6512-8213-8000-0000d06e849b","ReservedCode1":"","ContentPropagator":"001191110108MACG2KBH8F20000","PropagateID":"19b4f9bb-6512-8213-8000-0000d06e849b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67B06EEB64B34FCEA071FB8ADF05220A_12</vt:lpwstr>
  </property>
</Properties>
</file>